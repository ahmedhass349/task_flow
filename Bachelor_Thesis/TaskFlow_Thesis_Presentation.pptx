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743200"/>
            <a:ext cx="7315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U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917412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Bachelor of Science in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59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Smart Task &amp; Quality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TASKFLOW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0">
                <a:solidFill>
                  <a:srgbClr val="F1F5F9"/>
                </a:solidFill>
                <a:latin typeface="Calibri"/>
              </a:defRPr>
            </a:pPr>
            <a:r>
              <a:t>An Offline-First Cross-Platform Desktop Application with AI-Powered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Ahmed Hassan Abdelbarr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Supervised by: Assoc. Prof. Wael Zakaria Abdallah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German University in Cairo  •  Faculty of Engineering and Materials Science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19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94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494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Background &amp; Related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5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7977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System Architecture &amp;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Key Innovations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Results &amp;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7083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70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0118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011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315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315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18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Aft>
                <a:spcPts val="400"/>
              </a:spcAft>
              <a:defRPr sz="2600" b="1">
                <a:solidFill>
                  <a:srgbClr val="0F172A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15544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This presentation covers the design, implementation, and evaluation of TaskFlow — a cross-platform desktop task management system built on an offline-first architecture with dual-database synchronisation, multi-modal AI integration, and a rich collaborative feature set.</a:t>
            </a:r>
            <a:br/>
            <a:br/>
            <a:r>
              <a:t>Duration: ~15 minutes  |  15 slides  |  Live demo included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594360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Why existing task management tools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29184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29184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2057400"/>
            <a:ext cx="82296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4"/>
              </a:lnSpc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Cloud-Centric Fragility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Tools like Trello, Asana, Jira, and Notion assume always-on connectivity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721100"/>
            <a:ext cx="635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When offline, operations are silently lost or error 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15460"/>
            <a:ext cx="635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Unusable on trains, planes, rural areas, or during network outages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909820"/>
            <a:ext cx="635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No graceful degradation — full functionality requires 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504180"/>
            <a:ext cx="635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828800"/>
            <a:ext cx="329184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828800"/>
            <a:ext cx="329184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0680" y="2057400"/>
            <a:ext cx="82296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4"/>
              </a:lnSpc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Fragmented Toolchains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Users juggle separate apps for tasks, code, calendar, chat, and notifications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721100"/>
            <a:ext cx="635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251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No single cohesive desktop application integrates all of these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4315460"/>
            <a:ext cx="635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846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Context-switching reduces productivity and increases cognitive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909820"/>
            <a:ext cx="635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440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Task assignments buried in social media / messaging apps with no 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5504180"/>
            <a:ext cx="6350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1828800"/>
            <a:ext cx="329184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1828800"/>
            <a:ext cx="329184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4"/>
              </a:lnSpc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Shallow AI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AI features in existing tools are limited to basic text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3721100"/>
            <a:ext cx="635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4251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No conversational assistant aware of the user's own project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4315460"/>
            <a:ext cx="635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846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No support for code generation, document OCR, or multimodal input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4909820"/>
            <a:ext cx="635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5440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  Missed opportunity for AI to truly augment project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5504180"/>
            <a:ext cx="635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Six design goals that guided the development of TaskFlow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47472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Offline-First</a:t>
            </a:r>
            <a:br/>
            <a: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Every core feature works fully</a:t>
            </a:r>
            <a:br/>
            <a:r>
              <a:t>without internet connectivity.</a:t>
            </a:r>
            <a:br/>
            <a:r>
              <a:t>SQLite for local persistence.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4747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10312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Reliable</a:t>
            </a:r>
            <a:br/>
            <a:r>
              <a:t>Synchronisation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Transactional outbox pattern</a:t>
            </a:r>
            <a:br/>
            <a:r>
              <a:t>for at-least-once delivery.</a:t>
            </a:r>
            <a:br/>
            <a:r>
              <a:t>User-visible sync progress.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47472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103120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057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Multi-Mode</a:t>
            </a:r>
            <a:br/>
            <a:r>
              <a:t>AI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346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Mistral API: chat, code gen</a:t>
            </a:r>
            <a:br/>
            <a:r>
              <a:t>(Codestral), and document OCR.</a:t>
            </a:r>
            <a:br/>
            <a:r>
              <a:t>SSE streaming for responsiveness.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347472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Five Task</a:t>
            </a:r>
            <a:br/>
            <a:r>
              <a:t>Visualisations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521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Default, Kanban, Table, Gantt,</a:t>
            </a:r>
            <a:br/>
            <a:r>
              <a:t>and Calendar views — each</a:t>
            </a:r>
            <a:br/>
            <a:r>
              <a:t>optimised for different workflows.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84632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846320"/>
            <a:ext cx="347472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5120640"/>
            <a:ext cx="54864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120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Cross-Platform</a:t>
            </a:r>
            <a:br/>
            <a:r>
              <a:t>Desktop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8521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Self-contained ~35MB installer</a:t>
            </a:r>
            <a:br/>
            <a:r>
              <a:t>via Tauri v2. Embedded .NET</a:t>
            </a:r>
            <a:br/>
            <a:r>
              <a:t>backend + React frontend.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84632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4846320"/>
            <a:ext cx="347472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5120640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120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Full</a:t>
            </a:r>
            <a:br/>
            <a:r>
              <a:t>Collaboration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8521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Teams, DMs, group chats, file</a:t>
            </a:r>
            <a:br/>
            <a:r>
              <a:t>attachments, real-time SignalR</a:t>
            </a:r>
            <a:br/>
            <a:r>
              <a:t>notifications, calendar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Background &amp; 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Survey of existing tools and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11064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  <a:gridCol w="3749039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Trello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Asana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Jira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TaskFlow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Operation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Persistence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SQLite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Transparent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Outbox Pattern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 Assistant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Multi-Mode (Mistral)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Desktop Installer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Tauri (~35MB)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Kanban View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Gantt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Calendar View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Team Messaging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SignalR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 Key Insight: TaskFlow is the only tool combining offline-first architecture, local SQLite persistence, transparent synchronisation, multi-modal AI, and a self-contained desktop installer — all in a single cohesive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Three-tier desktop application with dual-database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064240" cy="1188720"/>
          </a:xfrm>
          <a:prstGeom prst="rect">
            <a:avLst/>
          </a:prstGeom>
          <a:solidFill>
            <a:srgbClr val="DB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3B82F6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React 19 + TypeScript SPA</a:t>
            </a:r>
            <a:br/>
            <a:r>
              <a:t>REST HTTP + SignalR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4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11064240" cy="1188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APPLICATION LOGIC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ASP.NET Core (.NET 10)  •  C#</a:t>
            </a:r>
            <a:br/>
            <a:r>
              <a:t>Controllers → Services → Repositories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749040"/>
            <a:ext cx="960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749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Offline Sync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3749040"/>
            <a:ext cx="960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749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SignalR 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749040"/>
            <a:ext cx="960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749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79" y="3749040"/>
            <a:ext cx="960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79" y="3749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3749040"/>
            <a:ext cx="960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7490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4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212080"/>
            <a:ext cx="3200400" cy="6400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0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SQLite  •  18 Entities  •  ACID Compliant</a:t>
            </a:r>
            <a:br/>
            <a:r>
              <a:t>Primary local store — zero network dependency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257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◄── Sync ──►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5212080"/>
            <a:ext cx="3200400" cy="6400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5230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MongoDB  •  15 Collections  •  Document Store</a:t>
            </a:r>
            <a:br/>
            <a:r>
              <a:t>Cloud relay — cross-device synchronisation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1920240"/>
            <a:ext cx="246888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1">
                <a:solidFill>
                  <a:srgbClr val="3B82F6"/>
                </a:solidFill>
                <a:latin typeface="Calibri"/>
              </a:defRPr>
            </a:pPr>
            <a:r>
              <a:t>DESKTOP SHELL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Tauri v2 (Rust)</a:t>
            </a:r>
            <a:br/>
            <a:br/>
            <a:r>
              <a:t>• OS-native WebView2</a:t>
            </a:r>
            <a:br/>
            <a:r>
              <a:t>• Sidecar .NET backend</a:t>
            </a:r>
            <a:br/>
            <a:r>
              <a:t>• Stdout port negotiation</a:t>
            </a:r>
            <a:br/>
            <a:r>
              <a:t>• Splashscreen → Main</a:t>
            </a:r>
            <a:br/>
            <a:r>
              <a:t>  window lifecycle</a:t>
            </a:r>
            <a:br/>
            <a:r>
              <a:t>• 9 IPC commands</a:t>
            </a:r>
            <a:br/>
            <a:r>
              <a:t>• CSP security policy</a:t>
            </a:r>
            <a:br/>
            <a:r>
              <a:t>• NSIS / MSI installer</a:t>
            </a:r>
            <a:br/>
            <a:r>
              <a:t>  (~35 MB self-contained)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Data Model — Entity Relationship Diagrams:</a:t>
            </a:r>
          </a:p>
        </p:txBody>
      </p:sp>
      <p:pic>
        <p:nvPicPr>
          <p:cNvPr id="41" name="Picture 40" descr="erd_sq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94960"/>
            <a:ext cx="1677798" cy="914400"/>
          </a:xfrm>
          <a:prstGeom prst="rect">
            <a:avLst/>
          </a:prstGeom>
        </p:spPr>
      </p:pic>
      <p:pic>
        <p:nvPicPr>
          <p:cNvPr id="42" name="Picture 41" descr="erd_mon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394960"/>
            <a:ext cx="1677798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Innovation: Offline-First Synchronisation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Transactional Outbox Pattern adapted for desktop .NET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29184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1. LOCAL SQLITE TRANSACTION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Within a single atomic transaction:</a:t>
            </a:r>
            <a:br/>
            <a:br/>
            <a:r>
              <a:t>  ├── Write entity changes</a:t>
            </a:r>
            <a:br/>
            <a:r>
              <a:t>  │   (TaskItem, Message, etc.)</a:t>
            </a:r>
            <a:br/>
            <a:r>
              <a:t>  │</a:t>
            </a:r>
            <a:br/>
            <a:r>
              <a:t>  └── Write SyncOutboxEntry</a:t>
            </a:r>
            <a:br/>
            <a:r>
              <a:t>      { EntityType, SyncId,</a:t>
            </a:r>
            <a:br/>
            <a:r>
              <a:t>        Operation, Payload,</a:t>
            </a:r>
            <a:br/>
            <a:r>
              <a:t>        Status: Pending }</a:t>
            </a:r>
            <a:br/>
            <a:br/>
            <a:r>
              <a:t>  ✓ ACID guarantee — both or neither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Aft>
                <a:spcPts val="400"/>
              </a:spcAft>
              <a:defRPr sz="2400" b="0">
                <a:solidFill>
                  <a:srgbClr val="3B82F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329184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2. OFFLINESYNCSERVICE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Background worker polls every</a:t>
            </a:r>
            <a:br/>
            <a:r>
              <a:t>few seconds:</a:t>
            </a:r>
            <a:br/>
            <a:br/>
            <a:r>
              <a:t>  ├── Reads Pending outbox</a:t>
            </a:r>
            <a:br/>
            <a:r>
              <a:t>  │   entries (FIFO order)</a:t>
            </a:r>
            <a:br/>
            <a:r>
              <a:t>  │</a:t>
            </a:r>
            <a:br/>
            <a:r>
              <a:t>  ├── Marks → Processing</a:t>
            </a:r>
            <a:br/>
            <a:r>
              <a:t>  │</a:t>
            </a:r>
            <a:br/>
            <a:r>
              <a:t>  └── Uses ConnectivityService</a:t>
            </a:r>
            <a:br/>
            <a:r>
              <a:t>      as circuit breaker</a:t>
            </a:r>
            <a:br/>
            <a:br/>
            <a:r>
              <a:t>  ↻ Retries Failed entries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Aft>
                <a:spcPts val="400"/>
              </a:spcAft>
              <a:defRPr sz="2400" b="0">
                <a:solidFill>
                  <a:srgbClr val="10B981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92024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56616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3. MONGODB RELAY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14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HTTP PUT to MongoDB:</a:t>
            </a:r>
            <a:br/>
            <a:br/>
            <a:r>
              <a:t>  ├── Idempotent upsert</a:t>
            </a:r>
            <a:br/>
            <a:r>
              <a:t>  │   (SyncId as _id)</a:t>
            </a:r>
            <a:br/>
            <a:r>
              <a:t>  │</a:t>
            </a:r>
            <a:br/>
            <a:r>
              <a:t>  ├── On success → Synced</a:t>
            </a:r>
            <a:br/>
            <a:r>
              <a:t>  │</a:t>
            </a:r>
            <a:br/>
            <a:r>
              <a:t>  └── On failure → Failed</a:t>
            </a:r>
            <a:br/>
            <a:r>
              <a:t>      (retry with backoff)</a:t>
            </a:r>
            <a:br/>
            <a:br/>
            <a:r>
              <a:t>  State machine:</a:t>
            </a:r>
            <a:br/>
            <a:r>
              <a:t>  Pending → Processing → Synced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1556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Connectivity States: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12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Normal operation</a:t>
            </a:r>
            <a:br/>
            <a:r>
              <a:t>Outbox replayed immediately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19" y="5212080"/>
            <a:ext cx="6400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19" y="5212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Manually 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9" y="5212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User-toggled</a:t>
            </a:r>
            <a:br/>
            <a:r>
              <a:t>Operations queued locally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9" y="5212080"/>
            <a:ext cx="64008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5212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Disconnected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5212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No connection</a:t>
            </a:r>
            <a:br/>
            <a:r>
              <a:t>Queue grows; auto-replay on reconnect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UI: ConnectivityBar shows real-time status • Pending operation count • Colour-coded indicators • Animated sync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Innovation: Multi-Modal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Mistral API integration with three specialised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56616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4"/>
              </a:lnSpc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💬  General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Model: mistral-small-latest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Conversational Q&amp;A</a:t>
            </a:r>
            <a:br/>
            <a:r>
              <a:t>Brainstorming ideas</a:t>
            </a:r>
            <a:br/>
            <a:r>
              <a:t>Help &amp; guidance</a:t>
            </a:r>
            <a:br/>
            <a:r>
              <a:t>Project advice</a:t>
            </a:r>
          </a:p>
        </p:txBody>
      </p:sp>
      <p:pic>
        <p:nvPicPr>
          <p:cNvPr id="14" name="Picture 13" descr="res_ai_chatbot_emp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80560"/>
            <a:ext cx="3200400" cy="17202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97680" y="192024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56616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4"/>
              </a:lnSpc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💻  Code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Model: codestral-latest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Generate code snippets</a:t>
            </a:r>
            <a:br/>
            <a:r>
              <a:t>Explain code logic</a:t>
            </a:r>
            <a:br/>
            <a:r>
              <a:t>Refactor existing code</a:t>
            </a:r>
            <a:br/>
            <a:r>
              <a:t>Debug assistance</a:t>
            </a:r>
          </a:p>
        </p:txBody>
      </p:sp>
      <p:pic>
        <p:nvPicPr>
          <p:cNvPr id="20" name="Picture 19" descr="res_ai_co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480560"/>
            <a:ext cx="3200400" cy="172021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138160" y="192024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920240"/>
            <a:ext cx="3566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4"/>
              </a:lnSpc>
              <a:spcAft>
                <a:spcPts val="4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📄  Document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Model: mistral-ocr-latest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17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Extract text from images</a:t>
            </a:r>
            <a:br/>
            <a:r>
              <a:t>Analyse documents</a:t>
            </a:r>
            <a:br/>
            <a:r>
              <a:t>Process uploaded files</a:t>
            </a:r>
            <a:br/>
            <a:r>
              <a:t>Multimodal understanding</a:t>
            </a:r>
          </a:p>
        </p:txBody>
      </p:sp>
      <p:pic>
        <p:nvPicPr>
          <p:cNvPr id="26" name="Picture 25" descr="res_ai_smart_autofill.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480560"/>
            <a:ext cx="3200400" cy="451325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6188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Technical: SSE (Server-Sent Events) streaming from React → ASP.NET Core → Mistral API • Sliding window context (last 20 messages) • AI-generated conversation titles • Persisted conversation history in 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Innovation: Five Task Visualisation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Multiple perspectives on project data, each optimised for different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  1. Default</a:t>
            </a:r>
          </a:p>
        </p:txBody>
      </p:sp>
      <p:pic>
        <p:nvPicPr>
          <p:cNvPr id="10" name="Picture 9" descr="res_default_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0"/>
            <a:ext cx="21945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Smart temporal grouping</a:t>
            </a:r>
            <a:br/>
            <a:r>
              <a:t>(Overdue, Today, This Week,</a:t>
            </a:r>
            <a:br/>
            <a:r>
              <a:t>Next Week, Future, No Date)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  2. Kanban</a:t>
            </a:r>
          </a:p>
        </p:txBody>
      </p:sp>
      <p:pic>
        <p:nvPicPr>
          <p:cNvPr id="13" name="Picture 12" descr="res_kanban_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194560"/>
            <a:ext cx="21945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176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Drag-and-drop columns</a:t>
            </a:r>
            <a:br/>
            <a:r>
              <a:t>(To Do, In Progress, Review,</a:t>
            </a:r>
            <a:br/>
            <a:r>
              <a:t>Completed, Overdue)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  3. Table</a:t>
            </a:r>
          </a:p>
        </p:txBody>
      </p:sp>
      <p:pic>
        <p:nvPicPr>
          <p:cNvPr id="16" name="Picture 15" descr="res_table_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219456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Sortable, filterable grid</a:t>
            </a:r>
            <a:br/>
            <a:r>
              <a:t>with inline editing</a:t>
            </a:r>
            <a:br/>
            <a:r>
              <a:t>and column customisation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  4. Gantt</a:t>
            </a:r>
          </a:p>
        </p:txBody>
      </p:sp>
      <p:pic>
        <p:nvPicPr>
          <p:cNvPr id="19" name="Picture 18" descr="res_gantt_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194560"/>
            <a:ext cx="21945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0664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Timeline-based view</a:t>
            </a:r>
            <a:br/>
            <a:r>
              <a:t>for project scheduling</a:t>
            </a:r>
            <a:br/>
            <a:r>
              <a:t>and dependency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  5. Calendar</a:t>
            </a:r>
          </a:p>
        </p:txBody>
      </p:sp>
      <p:pic>
        <p:nvPicPr>
          <p:cNvPr id="22" name="Picture 21" descr="res_calendar_vie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2194560"/>
            <a:ext cx="2194560" cy="1463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84080" y="3749039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Weekly time-grid</a:t>
            </a:r>
            <a:br/>
            <a:r>
              <a:t>with drag-to-schedule</a:t>
            </a:r>
            <a:br/>
            <a:r>
              <a:t>and event overlays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Additional Interface Screenshots: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Dashboard</a:t>
            </a:r>
          </a:p>
        </p:txBody>
      </p:sp>
      <p:pic>
        <p:nvPicPr>
          <p:cNvPr id="26" name="Picture 25" descr="res_dashboard_populat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577840"/>
            <a:ext cx="32004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80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Task Editor</a:t>
            </a:r>
          </a:p>
        </p:txBody>
      </p:sp>
      <p:pic>
        <p:nvPicPr>
          <p:cNvPr id="28" name="Picture 27" descr="res_task_editor_empty.p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5577840"/>
            <a:ext cx="3200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Requirements Fulfilment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11 functional and 5 non-functional requirements fully met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6858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389120"/>
                <a:gridCol w="1828800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 Requirement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User Authentication (register, login, password reset)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 Management (CRUD, priorities, statuses, starring, assignment)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Multiple Task Views (Default, Kanban, Table, Gantt, Calendar)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Projects &amp; Teams (membership, MongoDB-relayed invitations)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Messaging (DMs, group chats, file attachments up to 20 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Notifications (SignalR real-time, email reminders, 17 types)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Calendar Events (CRUD, colour, meeting links, weekly grid)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 Chatbot (3 modes, SSE streaming, persisted history)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Operation (outbox queue, auto-replay, BulkSync)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Dashboard (stats, task trend, due this week, recent activity)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Settings (profile, password, notification preferences)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Fully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1737360"/>
            <a:ext cx="41148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737360"/>
            <a:ext cx="41148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NON-FUNCTIONAL REQ.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NFR-01: Offline-first architecture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NFR-02: Cross-platform (Windows)  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57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NFR-03: Real-time collaboration   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29767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NFR-04: Performance (&lt;200ms ops)  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37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NFR-05: Security (bcrypt, CSP)     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✓  ALL 11 FUNCTIONAL AND 5 NON-FUNCTIONAL REQUIREMENTS SUCCESSFULLY IMPLEMENTED 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Performance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Measured on Windows 11, Intel Core i7, 16GB RAM, NVMe SSD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Time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Application cold start (to UI ready)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~1,500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Login (local identity + MongoDB pull)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&lt;500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2,000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 list load (100 tasks, SQLite)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&lt;100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Task create (SQLite write + SignalR)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&lt;80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First AI token rendered (General)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~400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2,000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Offline-to-online sync replay (20 entries)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~1,800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Acceptable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Direct message delivery (sender → recipient)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&lt;150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Dashboard load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&lt;200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Kanban drag-and-drop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&lt;100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 All interactive operations satisfy the 200ms responsiveness threshold (NFR-04). Cold start and AI first-token are dominated by process initialisation and network round-trip respectively.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Offline Synchronisation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End-to-end test of the outbox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TEST PROCEDURE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1. User toggles to Manual Offline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2. User performs 20 task operations (create, update,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3. All 20 SyncOutboxEntry rows created with Pending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4. No data reaches MongoDB during offline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5. User reconnects to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6. OfflineSyncService replays entries in FIFO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7. All 20 entries transition: Pending → Processing → Synced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8. Tasks visible in MongoDB and on other devices via BulkSync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92024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4864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VERIFICATION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60320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560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Outbox entries created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08960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Entries replayed successfully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657600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Entries stuck in Pending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06239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~2s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062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Startup BulkSync completion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754880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54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LWW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Conflict resolution (last-write-wins)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303520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303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Data integrity maintained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The transactional outbox pattern provides reliable, at-least-once delivery semantics with zero data loss.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Contributions &amp;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Five technical contributions and key insights from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TECHNICAL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Outbox-Pattern Offline Sync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Adapted the distributed-systems transactional outbox pattern to a single-user SQLite-backed desktop context. Lightweight, zero external dependencies, &lt;1ms overhead per write.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Dual-Database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37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SQLite (primary) + MongoDB (relay) with ISyncableEntity interface exposing ToMongoDocument(). Keeping transformation logic on entities simplified adding new syncable types.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SSE-Streamed Multi-Modal AI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Integrated streaming HTTP responses inside a Tauri-hosted application without WebView buffering issues. SSE request issued directly from React renderer to local ASP.NET Core server.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599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005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0059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Self-Contained Desktop Packaging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749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Bundled ASP.NET Core server, React frontend, and Tauri shell into a single ~35 MB installer. Stdout-signal protocol decouples frontend load from backend start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Tauri Sidecar + Splashscreen 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43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Two-window lifecycle with Rust backend management. 9 IPC commands bridge shell and web renderer. Neither frontend nor backend required modification for desktop shell integration.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14B8A6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245360"/>
            <a:ext cx="76200" cy="76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1945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Offline-first requires deliberate UI design — ConnectivityBar with pending count, colour-coded states, animated progress bar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931160"/>
            <a:ext cx="76200" cy="76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8803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Choosing conflict resolution early (last-write-wins) shaped entity interfaces and prevented late-stage rework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616960"/>
            <a:ext cx="76200" cy="76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5661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SignalR group-per-user (Groups.AddToGroupAsync) is a reliable notification pattern that handles reconnection transparently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302760"/>
            <a:ext cx="76200" cy="76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2519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Clean architectural boundaries enable shell-layer substitution — Rust Tauri shell entirely decoupled from React frontend and .NET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ACKNOWLEDGED LIMITATIONS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Last-write-wins: no merge dialogue for concurrent edits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Sub-task backend not implemented (UI scaffold only)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Mistral API key hardcoded (not via environment variable)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6263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No automated test suite (manual testing only)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537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macOS not notarised (Gatekeeper override required)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40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Short-term improvements and long-term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Smart Task &amp; Quality Management System (TaskFlow)  |  Ahmed Hassan Abdelbarr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SHORT-TERM (IMMEDIATE NEXT STEPS)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50292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6982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98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Sub-task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Complete the backend support for hierarchical task breakdown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5562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556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17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API Key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Move Mistral API key to environment variable / secure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142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414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03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Automated Test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Add unit and integration tests (xUnit, Moq, Testcontainers)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2722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272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Per-Field Conflict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Replace last-write-wins with field-level merge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1302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130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Cross-Platform Builds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Extend installer pipeline to macOS (.dmg) and Linux (.AppImage)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14B8A6"/>
                </a:solidFill>
                <a:latin typeface="Calibri"/>
              </a:defRPr>
            </a:pPr>
            <a:r>
              <a:t>LONG-TERM 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48840"/>
            <a:ext cx="53035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369820"/>
            <a:ext cx="32004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3698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331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Mobile Companion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Native mobile clients with offline-first sync to the same backend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009900"/>
            <a:ext cx="32004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0099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971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AI Natural-Language Task Creation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Create tasks by simply describing them in natural language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49980"/>
            <a:ext cx="32004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6499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611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CRDT-Based Sync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Replace LWW with Conflict-Free Replicated Data Types for true real-time collaboration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90059"/>
            <a:ext cx="32004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2900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25195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5262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Advanced visualisations: burndown charts, velocity metrics, cycle time analysis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930140"/>
            <a:ext cx="32004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301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892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Third-Party Plugin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166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Extend via plugins for Git integration, Slack, Teams, Jira import, etc.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570220"/>
            <a:ext cx="32004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5702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532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Cloud-Hosted Multi-Tenant SaaS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806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  <a:r>
              <a:t>Offer TaskFlow as a hosted service with team management and billing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Three demo scenarios: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Scenario 1 — Offline-First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1. Create tasks while online → Observe SQLite + MongoDB sync</a:t>
            </a:r>
            <a:br/>
            <a:r>
              <a:t>2. Toggle Manual Offline mode → ConnectivityBar turns amber</a:t>
            </a:r>
            <a:br/>
            <a:r>
              <a:t>3. Create more tasks → They persist locally in SQLite</a:t>
            </a:r>
            <a:br/>
            <a:r>
              <a:t>4. Reconnect → Watch Outbox replay in real-time → All tasks appear in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Scenario 2 —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1. Open AI Chatbot → Ask a general question (General mode)</a:t>
            </a:r>
            <a:br/>
            <a:r>
              <a:t>2. Switch to Coder mode → Ask to generate a sorting algorithm</a:t>
            </a:r>
            <a:br/>
            <a:r>
              <a:t>3. Observe SSE streaming: tokens appear one by one</a:t>
            </a:r>
            <a:br/>
            <a:r>
              <a:t>4. Upload a document/ image → Switch to OCR mode → Extract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Scenario 3 — Task Visualisations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1F5F9"/>
                </a:solidFill>
                <a:latin typeface="Calibri"/>
              </a:defRPr>
            </a:pPr>
            <a:r>
              <a:t>1. Open Default view → See temporally grouped tasks</a:t>
            </a:r>
            <a:br/>
            <a:r>
              <a:t>2. Switch to Kanban → Drag a task between status columns</a:t>
            </a:r>
            <a:br/>
            <a:r>
              <a:t>3. Switch to Gantt → See timeline view</a:t>
            </a:r>
            <a:br/>
            <a:r>
              <a:t>4. Open Calendar → See tasks on the weekly grid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980"/>
              </a:lnSpc>
              <a:spcAft>
                <a:spcPts val="4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657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400"/>
              </a:spcAft>
              <a:defRPr sz="1800" b="0">
                <a:solidFill>
                  <a:srgbClr val="F1F5F9"/>
                </a:solidFill>
                <a:latin typeface="Calibri"/>
              </a:defRPr>
            </a:pPr>
            <a:r>
              <a:t>Ahmed Hassan Abdelbarr</a:t>
            </a:r>
            <a:br/>
            <a:br/>
            <a:r>
              <a:t>Supervised by: Assoc. Prof. Wael Zakaria Abdallah</a:t>
            </a:r>
            <a:br/>
            <a:r>
              <a:t>German University in Cairo</a:t>
            </a:r>
            <a:br/>
            <a:r>
              <a:t>Faculty of Engineering and Materials Science</a:t>
            </a:r>
            <a:br/>
            <a:r>
              <a:t>Department of Computer Science and Engineering</a:t>
            </a:r>
            <a:br/>
            <a:br/>
            <a:r>
              <a:t>2025</a:t>
            </a:r>
          </a:p>
        </p:txBody>
      </p:sp>
      <p:pic>
        <p:nvPicPr>
          <p:cNvPr id="8" name="Picture 7" descr="GU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114800"/>
            <a:ext cx="3195687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